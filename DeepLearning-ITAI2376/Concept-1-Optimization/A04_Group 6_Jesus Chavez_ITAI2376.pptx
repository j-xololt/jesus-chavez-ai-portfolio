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9677" y="949325"/>
            <a:ext cx="6053779" cy="2387600"/>
          </a:xfrm>
        </p:spPr>
        <p:txBody>
          <a:bodyPr>
            <a:normAutofit/>
          </a:bodyPr>
          <a:lstStyle/>
          <a:p>
            <a:pPr algn="l"/>
            <a:r>
              <a:rPr lang="en-US" sz="5700" dirty="0">
                <a:solidFill>
                  <a:schemeClr val="bg1"/>
                </a:solidFill>
              </a:rPr>
              <a:t>Gradient Descent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9676" y="3429000"/>
            <a:ext cx="6053773" cy="1655762"/>
          </a:xfrm>
        </p:spPr>
        <p:txBody>
          <a:bodyPr>
            <a:norm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</a:rPr>
              <a:t>10/15/2025</a:t>
            </a:r>
          </a:p>
          <a:p>
            <a:pPr algn="l"/>
            <a:r>
              <a:rPr lang="en-US" sz="1400" dirty="0">
                <a:solidFill>
                  <a:schemeClr val="bg1"/>
                </a:solidFill>
              </a:rPr>
              <a:t>Professor: Sitaram Ayyagari</a:t>
            </a:r>
          </a:p>
          <a:p>
            <a:pPr algn="l"/>
            <a:r>
              <a:rPr lang="en-US" sz="1400" dirty="0">
                <a:solidFill>
                  <a:schemeClr val="bg1"/>
                </a:solidFill>
              </a:rPr>
              <a:t>By: Mahdi </a:t>
            </a:r>
            <a:r>
              <a:rPr lang="en-US" sz="1400" dirty="0" err="1">
                <a:solidFill>
                  <a:schemeClr val="bg1"/>
                </a:solidFill>
              </a:rPr>
              <a:t>Mohammadkhani</a:t>
            </a:r>
            <a:r>
              <a:rPr lang="en-US" sz="1400" dirty="0">
                <a:solidFill>
                  <a:schemeClr val="bg1"/>
                </a:solidFill>
              </a:rPr>
              <a:t>, Mohammad </a:t>
            </a:r>
            <a:r>
              <a:rPr lang="en-US" sz="1400" dirty="0" err="1">
                <a:solidFill>
                  <a:schemeClr val="bg1"/>
                </a:solidFill>
              </a:rPr>
              <a:t>Uraib</a:t>
            </a:r>
            <a:r>
              <a:rPr lang="en-US" sz="1400" dirty="0">
                <a:solidFill>
                  <a:schemeClr val="bg1"/>
                </a:solidFill>
              </a:rPr>
              <a:t>, Jesus Chavez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96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9144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8721"/>
            <a:ext cx="3530753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Mountain of Mistakes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3904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29AB2-2EFC-1299-8429-4E6F7F5A7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3326" y="1909192"/>
            <a:ext cx="3439885" cy="364771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Meet Neuro the robot! He wants to find the best solution to a problem.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But right now, he’s on top of the Mountain of Mistakes!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To get the best answer, he must go down to the valley — the lowest point where mistakes are the smallest!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5520" y="5707672"/>
            <a:ext cx="353549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A cartoon character standing on a mountain&#10;&#10;AI-generated content may be incorrect.">
            <a:extLst>
              <a:ext uri="{FF2B5EF4-FFF2-40B4-BE49-F238E27FC236}">
                <a16:creationId xmlns:a16="http://schemas.microsoft.com/office/drawing/2014/main" id="{E65D525B-F093-69E9-2847-207EB8164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4089" y="245546"/>
            <a:ext cx="4249911" cy="63669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8721"/>
            <a:ext cx="3530753" cy="1225650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bg1"/>
                </a:solidFill>
              </a:rPr>
              <a:t>How Does Neuro Know Where to Go?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3904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326" y="1909192"/>
            <a:ext cx="3439885" cy="36477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Neuro can’t see the whole mountain. He only knows how steep the ground is right where he’s standing.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So he takes small steps downhill, one at a time, following the slope.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Each step makes his answer a little better.</a:t>
            </a:r>
          </a:p>
          <a:p>
            <a:pPr>
              <a:lnSpc>
                <a:spcPct val="90000"/>
              </a:lnSpc>
            </a:pPr>
            <a:endParaRPr lang="en-US" sz="17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🧠 Gradient Descent means going downhill step by step to find the lowest mistake.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5520" y="5707672"/>
            <a:ext cx="353549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erson climbing snowy mountain">
            <a:extLst>
              <a:ext uri="{FF2B5EF4-FFF2-40B4-BE49-F238E27FC236}">
                <a16:creationId xmlns:a16="http://schemas.microsoft.com/office/drawing/2014/main" id="{DB6ECB51-6DEC-C51E-64B6-C695E45E8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089" y="1999967"/>
            <a:ext cx="4249911" cy="2858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8721"/>
            <a:ext cx="3530753" cy="1225650"/>
          </a:xfrm>
        </p:spPr>
        <p:txBody>
          <a:bodyPr anchor="b">
            <a:normAutofit/>
          </a:bodyPr>
          <a:lstStyle/>
          <a:p>
            <a:r>
              <a:rPr lang="en-US" sz="3300">
                <a:solidFill>
                  <a:schemeClr val="bg1"/>
                </a:solidFill>
              </a:rPr>
              <a:t>The Magic Formula (Simplified)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3904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326" y="1909192"/>
            <a:ext cx="3439885" cy="36477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Neuro uses a simple rule: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1️⃣ Check which way goes downhill (that’s the 'gradient').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2️⃣ Take a small step that way (that’s the 'descent').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3️⃣ Repeat until he’s at the bottom (smallest mistake).</a:t>
            </a:r>
          </a:p>
          <a:p>
            <a:pPr>
              <a:lnSpc>
                <a:spcPct val="90000"/>
              </a:lnSpc>
            </a:pPr>
            <a:endParaRPr lang="en-US" sz="17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If steps are too big → he bounces around!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If too small → it takes forever!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He needs just the right step size — the 'learning rate.'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5520" y="5707672"/>
            <a:ext cx="353549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C0A01A8-370D-8AF9-AC8A-3FCFCAD99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089" y="2233713"/>
            <a:ext cx="4249911" cy="23905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69925"/>
            <a:ext cx="3381709" cy="1325563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Why Is This Important?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500" y="2398957"/>
            <a:ext cx="7054999" cy="3526144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Every time you ask an AI to recognize a picture or predict something, it’s using Gradient Descent!</a:t>
            </a:r>
          </a:p>
          <a:p>
            <a:r>
              <a:rPr lang="en-US" sz="1700">
                <a:solidFill>
                  <a:schemeClr val="bg1"/>
                </a:solidFill>
              </a:rPr>
              <a:t>It keeps adjusting its 'brain knobs' (weights) until it makes the smallest possible mistake —</a:t>
            </a:r>
          </a:p>
          <a:p>
            <a:r>
              <a:rPr lang="en-US" sz="1700">
                <a:solidFill>
                  <a:schemeClr val="bg1"/>
                </a:solidFill>
              </a:rPr>
              <a:t>just like Neuro reaching the bottom of the mountain.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69925"/>
            <a:ext cx="3381709" cy="132556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Quick Recap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500" y="2398957"/>
            <a:ext cx="7054999" cy="3526144"/>
          </a:xfrm>
        </p:spPr>
        <p:txBody>
          <a:bodyPr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Gradient → How steep the hill is</a:t>
            </a:r>
          </a:p>
          <a:p>
            <a:r>
              <a:rPr lang="en-US" sz="1700" dirty="0">
                <a:solidFill>
                  <a:schemeClr val="bg1"/>
                </a:solidFill>
              </a:rPr>
              <a:t>Descent → Going downhill to reduce mistakes</a:t>
            </a:r>
          </a:p>
          <a:p>
            <a:r>
              <a:rPr lang="en-US" sz="1700" dirty="0">
                <a:solidFill>
                  <a:schemeClr val="bg1"/>
                </a:solidFill>
              </a:rPr>
              <a:t>Learning Rate → How big each step is</a:t>
            </a:r>
          </a:p>
          <a:p>
            <a:r>
              <a:rPr lang="en-US" sz="1700" dirty="0">
                <a:solidFill>
                  <a:schemeClr val="bg1"/>
                </a:solidFill>
              </a:rPr>
              <a:t>Goal → Reach the lowest point = best answer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8721"/>
            <a:ext cx="3530753" cy="1225650"/>
          </a:xfrm>
        </p:spPr>
        <p:txBody>
          <a:bodyPr anchor="b">
            <a:normAutofit/>
          </a:bodyPr>
          <a:lstStyle/>
          <a:p>
            <a:r>
              <a:rPr lang="en-US" sz="3300">
                <a:solidFill>
                  <a:schemeClr val="bg1"/>
                </a:solidFill>
              </a:rPr>
              <a:t>Sources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3904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326" y="1909192"/>
            <a:ext cx="3439885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• 'Deep Learning Illustrated' by Jon Krohn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• Andrew Ng, Machine Learning Specialization (Coursera)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• 3Blue1Brown: 'Gradient Descent Explained' (YouTube)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5520" y="5707672"/>
            <a:ext cx="353549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5F2E4FB-4B0A-CEE9-B6F9-CD3057A23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089" y="2233713"/>
            <a:ext cx="4249911" cy="23905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331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Gradient Descent</vt:lpstr>
      <vt:lpstr>The Mountain of Mistakes</vt:lpstr>
      <vt:lpstr>How Does Neuro Know Where to Go?</vt:lpstr>
      <vt:lpstr>The Magic Formula (Simplified)</vt:lpstr>
      <vt:lpstr>Why Is This Important?</vt:lpstr>
      <vt:lpstr>Quick Recap</vt:lpstr>
      <vt:lpstr>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jesus.chavezespino-W215634350</cp:lastModifiedBy>
  <cp:revision>3</cp:revision>
  <dcterms:created xsi:type="dcterms:W3CDTF">2013-01-27T09:14:16Z</dcterms:created>
  <dcterms:modified xsi:type="dcterms:W3CDTF">2025-10-16T18:52:37Z</dcterms:modified>
  <cp:category/>
</cp:coreProperties>
</file>